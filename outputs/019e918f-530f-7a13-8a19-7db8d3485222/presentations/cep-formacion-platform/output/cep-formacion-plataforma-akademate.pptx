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839210ef2c46e3" /><Relationship Type="http://schemas.openxmlformats.org/officeDocument/2006/relationships/extended-properties" Target="/docProps/app.xml" Id="Raf7e19ebfa0d4b04" /><Relationship Type="http://schemas.openxmlformats.org/officeDocument/2006/relationships/officeDocument" Target="/ppt/presentation.xml" Id="R6418f9f8accf49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a5651589de4a92"/>
  </p:sldMasterIdLst>
  <p:notesMasterIdLst>
    <p:notesMasterId xmlns:r="http://schemas.openxmlformats.org/officeDocument/2006/relationships" r:id="R807a9d1ee8674d68"/>
  </p:notesMasterIdLst>
  <p:sldIdLst>
    <p:sldId xmlns:r="http://schemas.openxmlformats.org/officeDocument/2006/relationships" id="256" r:id="Rd420f1720da84e64"/>
    <p:sldId xmlns:r="http://schemas.openxmlformats.org/officeDocument/2006/relationships" id="257" r:id="Re47559464a59481a"/>
    <p:sldId xmlns:r="http://schemas.openxmlformats.org/officeDocument/2006/relationships" id="258" r:id="Re196cb5e1e304c79"/>
    <p:sldId xmlns:r="http://schemas.openxmlformats.org/officeDocument/2006/relationships" id="259" r:id="Rdcba8c89f0444053"/>
    <p:sldId xmlns:r="http://schemas.openxmlformats.org/officeDocument/2006/relationships" id="260" r:id="Rc63eb8da772143bb"/>
    <p:sldId xmlns:r="http://schemas.openxmlformats.org/officeDocument/2006/relationships" id="261" r:id="R1575bd2cadaa43c7"/>
    <p:sldId xmlns:r="http://schemas.openxmlformats.org/officeDocument/2006/relationships" id="262" r:id="R39426459447d4482"/>
    <p:sldId xmlns:r="http://schemas.openxmlformats.org/officeDocument/2006/relationships" id="263" r:id="R401b66fdd52d4000"/>
    <p:sldId xmlns:r="http://schemas.openxmlformats.org/officeDocument/2006/relationships" id="264" r:id="Ra4517f435d05443d"/>
    <p:sldId xmlns:r="http://schemas.openxmlformats.org/officeDocument/2006/relationships" id="265" r:id="Rc889aa54693b42e3"/>
    <p:sldId xmlns:r="http://schemas.openxmlformats.org/officeDocument/2006/relationships" id="266" r:id="R9537c8a03e8d447a"/>
    <p:sldId xmlns:r="http://schemas.openxmlformats.org/officeDocument/2006/relationships" id="267" r:id="R1eaaa463e0634cb9"/>
    <p:sldId xmlns:r="http://schemas.openxmlformats.org/officeDocument/2006/relationships" id="268" r:id="Re6ad35d2756b4fe5"/>
    <p:sldId xmlns:r="http://schemas.openxmlformats.org/officeDocument/2006/relationships" id="269" r:id="R667b236805fd4b11"/>
    <p:sldId xmlns:r="http://schemas.openxmlformats.org/officeDocument/2006/relationships" id="270" r:id="Rac0ef0a21c534a42"/>
    <p:sldId xmlns:r="http://schemas.openxmlformats.org/officeDocument/2006/relationships" id="271" r:id="Ra2caa94d79f34bf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8147a6c26048e3" /><Relationship Type="http://schemas.openxmlformats.org/officeDocument/2006/relationships/slideMaster" Target="/ppt/slideMasters/slideMaster1.xml" Id="Rd7a5651589de4a92" /><Relationship Type="http://schemas.openxmlformats.org/officeDocument/2006/relationships/notesMaster" Target="/ppt/notesMasters/notesMaster1.xml" Id="R807a9d1ee8674d68" /><Relationship Type="http://schemas.openxmlformats.org/officeDocument/2006/relationships/presProps" Target="/ppt/presProps.xml" Id="Ra90026993737432d" /><Relationship Type="http://schemas.openxmlformats.org/officeDocument/2006/relationships/viewProps" Target="/ppt/viewProps.xml" Id="Rf67ff1317c6a4eef" /><Relationship Type="http://schemas.openxmlformats.org/officeDocument/2006/relationships/tableStyles" Target="/ppt/tableStyles.xml" Id="Rd340d185a57f46ca" /><Relationship Type="http://schemas.openxmlformats.org/officeDocument/2006/relationships/slide" Target="/ppt/slides/slide1.xml" Id="Rd420f1720da84e64" /><Relationship Type="http://schemas.openxmlformats.org/officeDocument/2006/relationships/slide" Target="/ppt/slides/slide2.xml" Id="Re47559464a59481a" /><Relationship Type="http://schemas.openxmlformats.org/officeDocument/2006/relationships/slide" Target="/ppt/slides/slide3.xml" Id="Re196cb5e1e304c79" /><Relationship Type="http://schemas.openxmlformats.org/officeDocument/2006/relationships/slide" Target="/ppt/slides/slide4.xml" Id="Rdcba8c89f0444053" /><Relationship Type="http://schemas.openxmlformats.org/officeDocument/2006/relationships/slide" Target="/ppt/slides/slide5.xml" Id="Rc63eb8da772143bb" /><Relationship Type="http://schemas.openxmlformats.org/officeDocument/2006/relationships/slide" Target="/ppt/slides/slide6.xml" Id="R1575bd2cadaa43c7" /><Relationship Type="http://schemas.openxmlformats.org/officeDocument/2006/relationships/slide" Target="/ppt/slides/slide7.xml" Id="R39426459447d4482" /><Relationship Type="http://schemas.openxmlformats.org/officeDocument/2006/relationships/slide" Target="/ppt/slides/slide8.xml" Id="R401b66fdd52d4000" /><Relationship Type="http://schemas.openxmlformats.org/officeDocument/2006/relationships/slide" Target="/ppt/slides/slide9.xml" Id="Ra4517f435d05443d" /><Relationship Type="http://schemas.openxmlformats.org/officeDocument/2006/relationships/slide" Target="/ppt/slides/slide10.xml" Id="Rc889aa54693b42e3" /><Relationship Type="http://schemas.openxmlformats.org/officeDocument/2006/relationships/slide" Target="/ppt/slides/slide11.xml" Id="R9537c8a03e8d447a" /><Relationship Type="http://schemas.openxmlformats.org/officeDocument/2006/relationships/slide" Target="/ppt/slides/slide12.xml" Id="R1eaaa463e0634cb9" /><Relationship Type="http://schemas.openxmlformats.org/officeDocument/2006/relationships/slide" Target="/ppt/slides/slide13.xml" Id="Re6ad35d2756b4fe5" /><Relationship Type="http://schemas.openxmlformats.org/officeDocument/2006/relationships/slide" Target="/ppt/slides/slide14.xml" Id="R667b236805fd4b11" /><Relationship Type="http://schemas.openxmlformats.org/officeDocument/2006/relationships/slide" Target="/ppt/slides/slide15.xml" Id="Rac0ef0a21c534a42" /><Relationship Type="http://schemas.openxmlformats.org/officeDocument/2006/relationships/slide" Target="/ppt/slides/slide16.xml" Id="Ra2caa94d79f34b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90d77f5441442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e468f755044ce9" /><Relationship Type="http://schemas.openxmlformats.org/officeDocument/2006/relationships/notesMaster" Target="/ppt/notesMasters/notesMaster1.xml" Id="Red9d2fdf7ad240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6ae1c3e26543ac" /><Relationship Type="http://schemas.openxmlformats.org/officeDocument/2006/relationships/notesMaster" Target="/ppt/notesMasters/notesMaster1.xml" Id="R145747dfd7a84c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bfde28464048a2" /><Relationship Type="http://schemas.openxmlformats.org/officeDocument/2006/relationships/notesMaster" Target="/ppt/notesMasters/notesMaster1.xml" Id="R8c2e01c66aa746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700b433f784e6f" /><Relationship Type="http://schemas.openxmlformats.org/officeDocument/2006/relationships/notesMaster" Target="/ppt/notesMasters/notesMaster1.xml" Id="Ra05a851461d642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289982e607475f" /><Relationship Type="http://schemas.openxmlformats.org/officeDocument/2006/relationships/notesMaster" Target="/ppt/notesMasters/notesMaster1.xml" Id="Rc694e67f3535455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42fc39f9164069" /><Relationship Type="http://schemas.openxmlformats.org/officeDocument/2006/relationships/notesMaster" Target="/ppt/notesMasters/notesMaster1.xml" Id="Rfdcb025d9df446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9ec9c121644db1" /><Relationship Type="http://schemas.openxmlformats.org/officeDocument/2006/relationships/notesMaster" Target="/ppt/notesMasters/notesMaster1.xml" Id="Rac9c3d69602544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7ed474c3834649" /><Relationship Type="http://schemas.openxmlformats.org/officeDocument/2006/relationships/notesMaster" Target="/ppt/notesMasters/notesMaster1.xml" Id="Rceface3fd1be49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e8f8dc4a6a469f" /><Relationship Type="http://schemas.openxmlformats.org/officeDocument/2006/relationships/notesMaster" Target="/ppt/notesMasters/notesMaster1.xml" Id="R91134611960647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09781e9fdc4635" /><Relationship Type="http://schemas.openxmlformats.org/officeDocument/2006/relationships/notesMaster" Target="/ppt/notesMasters/notesMaster1.xml" Id="Rf292c0e24bf947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6f3b6f6b394b0e" /><Relationship Type="http://schemas.openxmlformats.org/officeDocument/2006/relationships/notesMaster" Target="/ppt/notesMasters/notesMaster1.xml" Id="Rf73e30e376e74d1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d2919172984258" /><Relationship Type="http://schemas.openxmlformats.org/officeDocument/2006/relationships/notesMaster" Target="/ppt/notesMasters/notesMaster1.xml" Id="Ra14ae696d2ed4a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40c28b3cc5e42fe" /><Relationship Type="http://schemas.openxmlformats.org/officeDocument/2006/relationships/notesMaster" Target="/ppt/notesMasters/notesMaster1.xml" Id="R8339de3198084b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d9116ec73cf48df" /><Relationship Type="http://schemas.openxmlformats.org/officeDocument/2006/relationships/notesMaster" Target="/ppt/notesMasters/notesMaster1.xml" Id="Rb29321e58e094e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8b46c9b70fb4fee" /><Relationship Type="http://schemas.openxmlformats.org/officeDocument/2006/relationships/notesMaster" Target="/ppt/notesMasters/notesMaster1.xml" Id="R8f442a2bd6a041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9810186d28740b5" /><Relationship Type="http://schemas.openxmlformats.org/officeDocument/2006/relationships/notesMaster" Target="/ppt/notesMasters/notesMaster1.xml" Id="Re380051610e040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92bcc8ac094a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3c1b59cada4e0b" /><Relationship Type="http://schemas.openxmlformats.org/officeDocument/2006/relationships/slideLayout" Target="/ppt/slideLayouts/slideLayout1.xml" Id="Rb3b54f9175214f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b54f9175214f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e48a5f80242dd" /><Relationship Type="http://schemas.openxmlformats.org/officeDocument/2006/relationships/image" Target="/ppt/media/image.png" Id="Ra7d97daa05fd4a55" /><Relationship Type="http://schemas.openxmlformats.org/officeDocument/2006/relationships/image" Target="/ppt/media/image2.png" Id="Rc267e7a956624f4a" /><Relationship Type="http://schemas.openxmlformats.org/officeDocument/2006/relationships/image" Target="/ppt/media/image3.png" Id="Raf24d4dccf0a4193" /><Relationship Type="http://schemas.openxmlformats.org/officeDocument/2006/relationships/notesSlide" Target="/ppt/notesSlides/notesSlide1.xml" Id="R08ee76c4750f42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a41d66d334cd1" /><Relationship Type="http://schemas.openxmlformats.org/officeDocument/2006/relationships/notesSlide" Target="/ppt/notesSlides/notesSlide2.xml" Id="R4e1f133f19134d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94ece70624efa" /><Relationship Type="http://schemas.openxmlformats.org/officeDocument/2006/relationships/image" Target="/ppt/media/image4.png" Id="R5ad9f79e5f96479c" /><Relationship Type="http://schemas.openxmlformats.org/officeDocument/2006/relationships/notesSlide" Target="/ppt/notesSlides/notesSlide3.xml" Id="R99771261259a48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04e8ced2642c2" /><Relationship Type="http://schemas.openxmlformats.org/officeDocument/2006/relationships/image" Target="/ppt/media/image5.png" Id="R3e0c1f6039a9471c" /><Relationship Type="http://schemas.openxmlformats.org/officeDocument/2006/relationships/image" Target="/ppt/media/image6.png" Id="R7728df53836b47ef" /><Relationship Type="http://schemas.openxmlformats.org/officeDocument/2006/relationships/image" Target="/ppt/media/image7.png" Id="Ra621130a35c042e9" /><Relationship Type="http://schemas.openxmlformats.org/officeDocument/2006/relationships/image" Target="/ppt/media/image8.png" Id="R55a0d1ef49c9457d" /><Relationship Type="http://schemas.openxmlformats.org/officeDocument/2006/relationships/image" Target="/ppt/media/image9.png" Id="Rbfc87134ac3341f6" /><Relationship Type="http://schemas.openxmlformats.org/officeDocument/2006/relationships/notesSlide" Target="/ppt/notesSlides/notesSlide4.xml" Id="R7ebcd784b1834a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d38dfa77048fd" /><Relationship Type="http://schemas.openxmlformats.org/officeDocument/2006/relationships/notesSlide" Target="/ppt/notesSlides/notesSlide5.xml" Id="R1c91bbee064d43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fc6b489b8451a" /><Relationship Type="http://schemas.openxmlformats.org/officeDocument/2006/relationships/notesSlide" Target="/ppt/notesSlides/notesSlide6.xml" Id="Rba460454233f49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dddab0e3f346c3" /><Relationship Type="http://schemas.openxmlformats.org/officeDocument/2006/relationships/notesSlide" Target="/ppt/notesSlides/notesSlide7.xml" Id="R47fdb6adaa0049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cebdc5dea4b1f" /><Relationship Type="http://schemas.openxmlformats.org/officeDocument/2006/relationships/notesSlide" Target="/ppt/notesSlides/notesSlide8.xml" Id="R15c3661b8b6c4d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2c82d0aa54f08" /><Relationship Type="http://schemas.openxmlformats.org/officeDocument/2006/relationships/image" Target="/ppt/media/image10.png" Id="R462653fc88184f12" /><Relationship Type="http://schemas.openxmlformats.org/officeDocument/2006/relationships/image" Target="/ppt/media/image11.png" Id="R85c1f511804d46e0" /><Relationship Type="http://schemas.openxmlformats.org/officeDocument/2006/relationships/image" Target="/ppt/media/image12.png" Id="R75abee621c8744c3" /><Relationship Type="http://schemas.openxmlformats.org/officeDocument/2006/relationships/notesSlide" Target="/ppt/notesSlides/notesSlide9.xml" Id="Ra711fecf16b84f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4ba2ddea74fa0" /><Relationship Type="http://schemas.openxmlformats.org/officeDocument/2006/relationships/notesSlide" Target="/ppt/notesSlides/notesSlide10.xml" Id="R9d910c42ba2a464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7e8ed9dbd4297" /><Relationship Type="http://schemas.openxmlformats.org/officeDocument/2006/relationships/notesSlide" Target="/ppt/notesSlides/notesSlide11.xml" Id="R6f91d27ad5da41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2e55b83e14c38" /><Relationship Type="http://schemas.openxmlformats.org/officeDocument/2006/relationships/image" Target="/ppt/media/image13.png" Id="R368212c3c005472c" /><Relationship Type="http://schemas.openxmlformats.org/officeDocument/2006/relationships/notesSlide" Target="/ppt/notesSlides/notesSlide12.xml" Id="Rd1f754486bdc41d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c80eddd6645e3" /><Relationship Type="http://schemas.openxmlformats.org/officeDocument/2006/relationships/image" Target="/ppt/media/image14.png" Id="Re3274f590aad4fe8" /><Relationship Type="http://schemas.openxmlformats.org/officeDocument/2006/relationships/notesSlide" Target="/ppt/notesSlides/notesSlide13.xml" Id="R8ff866ff1ad54a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32eb330f34264" /><Relationship Type="http://schemas.openxmlformats.org/officeDocument/2006/relationships/notesSlide" Target="/ppt/notesSlides/notesSlide14.xml" Id="R9c9d111dcbfa43b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b9e7ef3d4c86" /><Relationship Type="http://schemas.openxmlformats.org/officeDocument/2006/relationships/notesSlide" Target="/ppt/notesSlides/notesSlide15.xml" Id="R0c260d9fa3f54b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d48bf86ef4550" /><Relationship Type="http://schemas.openxmlformats.org/officeDocument/2006/relationships/notesSlide" Target="/ppt/notesSlides/notesSlide16.xml" Id="Rf887015c2f13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D96EE6-A462-4C19-97F5-5D8A6ACA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A0B6D9-3DF0-4A80-9FC6-A3B34B1D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CEP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CA657-D037-45A9-BDDD-8EC3F2EA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352425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La nueva plataforma digital de CEP Formación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4152A-7625-4CC8-B473-133128D8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3619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Web, gestión interna, captación y campus en un único entorno operativo para la academia.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d97daa05fd4a55"/>
          <a:srcRect xmlns:a="http://schemas.openxmlformats.org/drawingml/2006/main" l="0" t="20824" r="0" b="208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590550"/>
            <a:ext cx="6667500" cy="371475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7e7a956624f4a"/>
          <a:srcRect xmlns:a="http://schemas.openxmlformats.org/drawingml/2006/main" l="0" t="12909" r="0" b="12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4572000"/>
            <a:ext cx="3143250" cy="1619250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4d4dccf0a4193"/>
          <a:srcRect xmlns:a="http://schemas.openxmlformats.org/drawingml/2006/main" l="0" t="23817" r="0" b="23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4572000"/>
            <a:ext cx="3238500" cy="1619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1FBBAE-20D1-4A82-85EC-40905DDE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Convocatorias · publicidad · leads · matrícula · campus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D0596-9997-47BD-8F37-1A1E65D0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F31CD-B0BE-4236-B9CC-0F01882C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6278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B0154C-4852-4E4F-9ACA-DDB153AD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84969-803D-4B57-8C6F-2EEBA5DE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C8645A-A727-467D-BE8E-F8B5EFA9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Un solo flujo conecta la web, la gestión y la matrícula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17C5F-F15C-4B4D-B7E2-FC754DFD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El equipo de CEP puede pasar de publicar formación a captar interesados, hacer seguimiento y convertir matrículas sin duplicar trabajo.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6D285-5584-4831-988C-C948F55E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2B8F1-2713-4418-9B1E-1975B528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BF19C-7EB0-450D-845D-BCB16975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Web pública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1B575-DF1B-440F-9CD7-45DF0865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0425"/>
            <a:ext cx="666750" cy="704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3EA0F-E430-4600-BA67-7F673860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481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Convocatorias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3636D-0B71-4D48-8425-768DD162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105275"/>
            <a:ext cx="666750" cy="-704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B8B31-8AA4-48CF-9B8A-8A9068B5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432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F4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Publicidad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72F21-921C-4FAA-9CC1-9383AD52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00425"/>
            <a:ext cx="666750" cy="704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28ADD-BD14-41C3-A5A0-30766D1D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Leads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0B944-EEDA-4B96-B5E7-5C8FBD5C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05275"/>
            <a:ext cx="666750" cy="-704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E8860-7818-4CFA-B4E2-0F501647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Matrículas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C1C041-00AF-48A2-87C4-5E29FBDA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0425"/>
            <a:ext cx="666750" cy="7048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E74844-09A7-46C8-9D47-59A7FCF3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481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Campus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C8EFD-DF8B-478F-9B4A-35EF21A9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66800"/>
            <a:ext cx="31432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La mejora no está en tener más pantallas: está en que cada paso alimente al siguiente.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FE961-AB8D-48D5-9027-BD4EE257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Resultado para CEP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7926A-F4E3-4529-9D6C-C18B9BAC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5717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Menos duplicación administrativa, mejor seguimiento comercial y más claridad para dirección.</a:t>
            </a:r>
          </a:p>
        </p:txBody>
      </p:sp>
    </p:spTree>
    <p:extLst>
      <p:ext uri="{BB962C8B-B14F-4D97-AF65-F5344CB8AC3E}">
        <p14:creationId xmlns:p14="http://schemas.microsoft.com/office/powerpoint/2010/main" val="1649066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1DCB9-CC51-4C33-89DE-CECFDFB0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088BE-F57F-49F8-B18A-4F6E66A4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WEB PUBLICA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024EB7-F334-4A7F-BDF0-15334D31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La web de CEP convierte la oferta formativa en solicitudes reales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916D7-509C-474C-932A-66F6F255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Cursos, ciclos, convocatorias y formularios quedan conectados con el panel interno para mantener la información actualizada.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3C0CD-403C-436F-9EAF-8397C19F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C07B9-A030-491E-891A-ACD12017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d9f79e5f96479c"/>
          <a:srcRect xmlns:a="http://schemas.openxmlformats.org/drawingml/2006/main" l="16613" t="0" r="166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666750"/>
            <a:ext cx="4762500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FC048-9507-47BD-B216-6E71A570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1500"/>
            <a:ext cx="4953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000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96958-6E5A-40CA-AE42-553597C9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2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7C860-82ED-47EA-B9EE-4C90CB3C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Catálogo por tipo de formación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9DB25-FA9E-4595-8F08-E5033086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52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CE707-48A8-45F5-AF85-FA718F21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8615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CTAs de información y matrícula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ECB2C-91B9-4C11-8186-C48FAD26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43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44072-9555-4C06-A7F6-1284C583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4762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Contenido preparado para campañas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2126C-DAA2-4F1F-B920-22BDDEF3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4953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Lo importante para CEP: publicar una convocatoria no termina en la web; empieza el proceso de captación.</a:t>
            </a:r>
          </a:p>
        </p:txBody>
      </p:sp>
    </p:spTree>
    <p:extLst>
      <p:ext uri="{BB962C8B-B14F-4D97-AF65-F5344CB8AC3E}">
        <p14:creationId xmlns:p14="http://schemas.microsoft.com/office/powerpoint/2010/main" val="13243054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35321-FF77-4477-8530-7A45CD66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B66D7-972C-4043-A92B-FE8CDB84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CATALOGO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05F027-9C49-438E-9F80-FFE6FCB3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Toda la oferta de CEP se organiza desde un catálogo único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46595-CE02-4D9E-8329-DFAB5C4E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Privados, teleformación, desempleados, ocupados y ciclos oficiales comparten una estructura común para publicar, filtrar y vender mejor.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149C5-CD22-43C2-BC31-4DEAC3D9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78068C-17CD-4EDA-B18D-ECA241015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c1f6039a9471c"/>
          <a:srcRect xmlns:a="http://schemas.openxmlformats.org/drawingml/2006/main" l="14356" t="0" r="143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952750"/>
            <a:ext cx="1809750" cy="1428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A25DC-C1D9-4BA4-AD90-99F8E126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8df53836b47ef"/>
          <a:srcRect xmlns:a="http://schemas.openxmlformats.org/drawingml/2006/main" l="14356" t="0" r="143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57500" y="2952750"/>
            <a:ext cx="1809750" cy="1428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7A6126-5C31-46C6-BEC8-B3F54E34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1130a35c042e9"/>
          <a:srcRect xmlns:a="http://schemas.openxmlformats.org/drawingml/2006/main" l="14356" t="0" r="143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2952750"/>
            <a:ext cx="1809750" cy="1428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FF3E9-07DF-46CA-BEC2-008D81EB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0d1ef49c9457d"/>
          <a:srcRect xmlns:a="http://schemas.openxmlformats.org/drawingml/2006/main" l="14356" t="0" r="143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952750"/>
            <a:ext cx="180975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EC3FA-9249-4D54-8A05-958EEDB4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c87134ac3341f6"/>
          <a:srcRect xmlns:a="http://schemas.openxmlformats.org/drawingml/2006/main" l="14356" t="0" r="143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29750" y="2952750"/>
            <a:ext cx="1809750" cy="1428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45EAB-7CB3-4140-A9C9-05CD059C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52750"/>
            <a:ext cx="180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087CD-75ED-4F46-9F5D-CC1FB33A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Privados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1BA6F-3BA8-4630-989D-220B1F94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2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Teleformación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A5E03B-178C-4FCB-8701-C03F3949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72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Desempleados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78CFE8-A718-4BC1-8447-8564D5B0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Ocupados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61612-9236-4860-8CEE-32C4E524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572000"/>
            <a:ext cx="1809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Ciclos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8D0F26-1D42-4112-B563-A02A1B8E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14950"/>
            <a:ext cx="9334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Una misma lógica de publicación evita rehacer textos, imágenes y datos cada vez que cambia la oferta.</a:t>
            </a:r>
          </a:p>
        </p:txBody>
      </p:sp>
    </p:spTree>
    <p:extLst>
      <p:ext uri="{BB962C8B-B14F-4D97-AF65-F5344CB8AC3E}">
        <p14:creationId xmlns:p14="http://schemas.microsoft.com/office/powerpoint/2010/main" val="11867726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560D3-B45E-40F7-B62C-C5A21E52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57C02-FC9C-4ABA-82B1-05E3BFD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CONVOCATORIAS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C8AED-1F34-4C1D-90B6-E02E8B06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Cada convocatoria se gestiona como una oportunidad comercial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1471C3-5290-464D-8F27-9F758787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Fechas, plazas, sedes, modalidad y estado de matrícula quedan preparados para operar y comunicar sin rehacer información.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BD3FD-9139-4B46-A0A5-D7CDD033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DD764-9C53-47FB-8D39-1E6FBD55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F4012-88BB-425E-946D-460C9D30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695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4"/>
          </a:solidFill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F607C-12FC-4399-A9DE-5F723FF8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A3A2E5-E3BA-4AC5-A0E5-3F91D097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1314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Curso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58AE0-09C0-49EF-92C3-57E31A13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433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312E1-E214-4EDB-933F-0C58BC9B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28950"/>
            <a:ext cx="1695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D879BB-7028-470E-B6AE-A74B91D4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2004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02BB4B-FDF4-4529-90D4-7485A27E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38550"/>
            <a:ext cx="1314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Fechas y sede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357423-BB4B-403E-B067-4D1318A3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7433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5287E-37B9-4A56-B39C-68DED81C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28950"/>
            <a:ext cx="1695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AB2719-8875-4F55-A6AE-C92BFF68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04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7A6F5-5FAF-474B-B797-7F4A476F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314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Plazas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B3DC4F-70FB-4A2D-9E7C-BFC8C40F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433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2CB9E8-4E43-4B78-89B0-D538064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028950"/>
            <a:ext cx="1695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10668-22C5-4C46-8060-7167DA30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004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C9666-164D-4C0E-96DF-7FE15166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638550"/>
            <a:ext cx="1314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Estado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C8677-C878-4689-8C59-D38A8081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743325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A7DBCA-BDA2-4C59-B5E5-EA9A89D1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695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870D8E-D1AA-4F5C-B79F-5FDAD247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0400"/>
            <a:ext cx="57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5067AF-E0F1-4688-8C09-7B0660FD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38550"/>
            <a:ext cx="13144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Lista de espera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D25801-C380-4793-90BA-B0E55E1B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9334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Cada convocatoria combina información académica y comercial: qué se imparte, cuándo, dónde, con cuántas plazas y cómo se comunica.</a:t>
            </a:r>
          </a:p>
        </p:txBody>
      </p:sp>
    </p:spTree>
    <p:extLst>
      <p:ext uri="{BB962C8B-B14F-4D97-AF65-F5344CB8AC3E}">
        <p14:creationId xmlns:p14="http://schemas.microsoft.com/office/powerpoint/2010/main" val="101992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5429BC-B8EF-4A59-9805-D3B3415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77062-A4A0-4847-8473-0456989C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AUTOMATIZACION CLAVE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AE79C1-4D90-46CD-9A88-596429D1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Al crear una convocatoria, CEP puede activar publicidad y captación de leads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9D201-49E2-4C99-A7BA-6D056680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La plataforma conecta la planificación académica con la generación de anuncios, formularios y seguimiento comercial.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6D9108-37AD-4526-8B73-20E83471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0AFF7-EE14-4683-9A4C-F7F202D7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031289-1DD5-483B-9202-13E168C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F4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Nueva convocatoria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D33A3-FCAD-4366-8A35-1717A37A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67075"/>
            <a:ext cx="495300" cy="857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22ED0-110D-448F-879D-43914BED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8671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Creatividades y copy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D05233-D113-4977-8BE2-9723A9A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124325"/>
            <a:ext cx="495300" cy="-857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BF865-8D2B-4B49-A6F2-2645D951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F4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Campaña Meta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B6014-2BE2-454D-A4B7-F78E9B22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67075"/>
            <a:ext cx="495300" cy="857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C2B41-88E9-44E5-98A5-1DD69754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671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Formulario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B3E5B-7506-49AF-B69F-19848D18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124325"/>
            <a:ext cx="495300" cy="-857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2CEC6-0FD0-48F4-8B93-BFE42623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3F4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Lead cualificado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BA0A4-93C1-4EC2-9FE7-43D3680D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267075"/>
            <a:ext cx="495300" cy="8572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9049F2-D5C2-4BC9-A00D-2BF8C99D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867150"/>
            <a:ext cx="142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Matrícula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02544F-EECD-4E03-A19B-320A8B16E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35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57437-A40D-4956-A4C9-199BC550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94869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Mensaje clave: la publicidad nace de la convocatoria, y los leads vuelven al panel para seguimiento y matrícula.</a:t>
            </a:r>
          </a:p>
        </p:txBody>
      </p:sp>
    </p:spTree>
    <p:extLst>
      <p:ext uri="{BB962C8B-B14F-4D97-AF65-F5344CB8AC3E}">
        <p14:creationId xmlns:p14="http://schemas.microsoft.com/office/powerpoint/2010/main" val="429074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97E8DB-2C7E-4718-8F1B-D729490F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564F4-431A-4649-B0EC-6E61869B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LEADS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59AB9-B572-4ABB-B119-FA132CB5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Cada interesado entra automáticamente en seguimiento comercial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963AB-E2FA-4F7D-9E16-86492284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Los formularios de la web y las campañas alimentan una ficha de lead con origen, curso de interés, estado y próxima acción.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CDDFC-6CA1-4AFD-B076-B5AFC3B6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AAED5-5C67-4B06-A4B7-C8377E0B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ADA78-40E6-48B6-92F3-FED662C6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790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4A268-269A-440D-8AA2-BF290AFA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790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928F2-6EE5-4DD6-96AD-EEE8CFA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Nuevo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16976-92E3-4287-B2AE-A4D911D1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Formulario o campaña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8DEBD0-782F-4D0F-A00E-D47D6F43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1790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E3C38-31FE-45AA-8EF9-76735D09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1790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74C99-AE2E-4053-835C-82DC33B6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371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Contactado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F5FCA-8262-4114-A739-3AE85A6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962400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Próxima acción clara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45DD95-9D40-41A2-9DC4-A4DED960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790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A6176-53CE-42FF-B6CA-BCB88383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28950"/>
            <a:ext cx="1790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790482-7C0B-4B72-A9BD-C99DE831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71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Cualificado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9AF04-C639-4E98-872E-729BCF16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62400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Próxima acción clara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6D0C73-E894-4555-BD5D-AEAC3E7E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1790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1FA514-5DEB-4148-98FD-8F153897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1790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35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15CDB-4827-40C3-BF4F-D9B46F1B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71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Documentación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5E9056-95A7-4354-89BE-2C8F38DC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62400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Próxima acción clara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6BAB1-5E52-487A-AD06-6BF98DEB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17907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2746C8-C69D-4B37-A4C6-B7591293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28950"/>
            <a:ext cx="1790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35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5C59E6-4961-4E2E-8224-5F289044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71850"/>
            <a:ext cx="14478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Matriculado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42E3C7-D556-4C83-91FF-C01A6438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62400"/>
            <a:ext cx="14478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Alumno creado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739F34-393E-47CF-A0B7-E7BB0443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8858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CEP gana trazabilidad: cada contacto tiene origen, curso de interés, estado y responsable.</a:t>
            </a:r>
          </a:p>
        </p:txBody>
      </p:sp>
    </p:spTree>
    <p:extLst>
      <p:ext uri="{BB962C8B-B14F-4D97-AF65-F5344CB8AC3E}">
        <p14:creationId xmlns:p14="http://schemas.microsoft.com/office/powerpoint/2010/main" val="1160844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79ECF5-5CDE-4C22-9505-A0076FBA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6F0A6-38D9-4051-8B22-FD8F0106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MATRICULAS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BC876-970F-47EB-BD0C-53DC2434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El equipo puede convertir la conversación en matrícula sin perder contexto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63004-F4D6-47A4-AC0A-12AA3C55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La ficha comercial conserva el historial y permite avanzar de interesado a alumno con estado operativo claro.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39B01-529F-4CC4-96CA-8B629ADE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3AF08F-9910-41DB-841F-E495362F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6BC0A-689F-4728-B28B-763F3BAA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4000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C5E5AA-40E2-45CC-A7C2-EA4EBCC4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52750"/>
            <a:ext cx="4000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101D6A-4375-42BF-9EF4-E39B17B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Ficha comercial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06A74-8318-4257-908B-50F66D32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8643A-CC3D-4315-956B-BA766BB9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909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Datos del alumno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0CA94-247D-4701-A1C7-599370E5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A19AAC-1D7F-43D5-9AFA-BBA30974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00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Curso o convocatoria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192A1-3D47-427C-946D-908CA135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95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50A25-0401-4BA2-A2FD-E09D13B9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291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Origen de campaña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07EDD5-F679-4150-B7D6-211A74F1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1945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Matrícula activa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EE1DE-79FC-41E7-827F-D937CFF5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A92B21-34F9-47F5-AA89-16123603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909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Estado de matrícula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9E0EF-3F0F-4CFC-9138-8B762BE5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276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A04AB-2DE2-4D9E-B33B-4EB3FDA8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100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Seguimiento administrativo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4E3A84-F1A6-4750-BF10-F3BF3C19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695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A3672-23DC-45AF-8489-BD6C1DC9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291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Acceso al campus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DB171-DFAF-48C4-8188-F976A621E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95750"/>
            <a:ext cx="180975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F000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562BDB-5229-4854-BFA2-AC8DEB36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9570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Convertir</a:t>
            </a:r>
          </a:p>
        </p:txBody>
      </p:sp>
    </p:spTree>
    <p:extLst>
      <p:ext uri="{BB962C8B-B14F-4D97-AF65-F5344CB8AC3E}">
        <p14:creationId xmlns:p14="http://schemas.microsoft.com/office/powerpoint/2010/main" val="925339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EDF255-231C-4DB3-ABDC-043A759E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0F8C4-78F0-408A-8432-0288BE3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MARKETING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A7078A-84AB-4153-BB92-175C3DA2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Las campañas dejan de estar separadas de la gestión diaria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A788A-D530-4210-8373-E81E2607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Meta/Facebook, Pixel, audiencias y campañas se conectan con el objetivo real: leads útiles para CEP y matrículas medibles.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4C44-35D0-479B-BC0E-74EC142F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B77F3-A09B-4BDB-95FA-3D1676C0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653fc88184f12"/>
          <a:srcRect xmlns:a="http://schemas.openxmlformats.org/drawingml/2006/main" l="0" t="172" r="0" b="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724150"/>
            <a:ext cx="3286125" cy="215265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1f511804d46e0"/>
          <a:srcRect xmlns:a="http://schemas.openxmlformats.org/drawingml/2006/main" l="0" t="172" r="0" b="1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57700" y="2724150"/>
            <a:ext cx="3286125" cy="21526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bee621c8744c3"/>
          <a:srcRect xmlns:a="http://schemas.openxmlformats.org/drawingml/2006/main" l="0" t="14705" r="0" b="147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2724150"/>
            <a:ext cx="3286125" cy="21526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D97BD-A7D4-41B4-B448-3FC63554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3286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Campañas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53F0B7-7BEE-4584-9961-2C66079C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67300"/>
            <a:ext cx="3286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Audiencias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17AB6F-D183-4CAC-BF90-E867B327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67300"/>
            <a:ext cx="32861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Conexión técnica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3B222-9AA9-4469-9799-4DFF7D29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53100"/>
            <a:ext cx="8858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La publicidad no se mide como algo aislado: se mide por los leads y matrículas que produce para CEP.</a:t>
            </a:r>
          </a:p>
        </p:txBody>
      </p:sp>
    </p:spTree>
    <p:extLst>
      <p:ext uri="{BB962C8B-B14F-4D97-AF65-F5344CB8AC3E}">
        <p14:creationId xmlns:p14="http://schemas.microsoft.com/office/powerpoint/2010/main" val="6335405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FA3D09-EC60-4498-8B56-1535B2D3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FE09A-0C2B-446F-9A3A-3161727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CAMPUS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1F0E1D-3629-4E6A-8BA5-6E84986D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El alumno tiene un espacio propio para avanzar y acreditar progreso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0CDB9-1FE8-4FB1-AC02-22E41095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Cursos, lecciones, materiales, asistencia, progreso y certificados pueden centralizarse en una experiencia de campus CEP.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14BC4-892A-4174-B0CE-86974612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FAC2B-FF2D-400C-AAD1-E0292558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B7C9F-A9AF-40CE-BDAC-0A147E18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0A47D5-1AB1-4E6D-AE7E-DF583385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Cursos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3BC6B-F380-405E-830E-06748754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3445C-1AF3-4F80-AD66-B256B4CB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432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Lecciones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7747A1-A17C-40FF-A5D9-60A6F48F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CA84C-FC20-4DE9-8E65-3658CE19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325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Materiales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393C8-7FE6-46AA-B58B-4585DAE2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148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016700-7852-4AB6-B1D3-E5E69418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434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Progreso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8FE84-B02B-4887-8251-D2FA0B0E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148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B4CB14-D494-4C9C-8904-E8CA648D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Asistencia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46D747-76A3-492A-AC7F-1675BEBB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14800"/>
            <a:ext cx="266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4"/>
          </a:solidFill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11E8D-788A-44D6-987B-EA75F984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343400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Certificados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BC0277-7050-459F-8A8D-5AA16F7B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62600"/>
            <a:ext cx="9429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Para el alumno, CEP deja de ser solo una web de cursos: se convierte en una experiencia de aprendizaje con continuidad.</a:t>
            </a:r>
          </a:p>
        </p:txBody>
      </p:sp>
    </p:spTree>
    <p:extLst>
      <p:ext uri="{BB962C8B-B14F-4D97-AF65-F5344CB8AC3E}">
        <p14:creationId xmlns:p14="http://schemas.microsoft.com/office/powerpoint/2010/main" val="9217626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3A10B8-4A6F-4148-9CDF-E4343B414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CC6166-494C-4DD5-88B7-16F1BDD8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EQUIPO Y SEDES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58739-D712-42DF-989F-3FC01E88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CEP puede coordinar personas, aulas y sedes desde el mismo panel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82B72-D64D-4898-8834-4E9DC58E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Profesores, personal administrativo, sedes, aulas y disponibilidad quedan alineados con cada convocatoria.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DBA1D5-13A2-490C-B467-302A6881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04528-6760-4D44-A8D2-3CB0B102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77F812-C444-4F77-9766-8E5EDDCF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Área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27225-5F1F-4FD4-A29A-9DC8BBA7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Qué coordina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2A536-B821-49FF-B823-1FEBD8A6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724150"/>
            <a:ext cx="2762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Para qué sirve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E67C7-9DD2-4B1C-B3E8-843A82F5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76CD0-C2C3-43D7-8DC6-9B32A4A8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Profesores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4D1544-02C6-4799-AEFB-899425F1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337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Asignación a cursos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B2A439-6B7D-4BF4-979B-8A44D691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337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Áreas cualificadas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451437-F2B6-409A-A149-970F5E30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8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86C22-973D-43E1-8877-4B0FDC9D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Sedes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681C2-90CB-4309-8F3C-BDE12F3F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910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Convocatorias por centro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F7F0A-F09A-474A-9410-6243F6A3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19100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Aulas y capacidad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7F80C-A52A-4FCD-9997-86A42D57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942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C4CE5-2CA9-48AC-B5DC-32921810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Personal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5B1CF-00F4-4538-A663-6AB4A73F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0482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Roles internos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5B2FED-DF2E-4622-9B3C-9A420416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48250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Seguimiento operativo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16303-CA2D-4CB0-A358-E10B132E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86450"/>
            <a:ext cx="8953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La planificación comercial solo funciona bien si aulas, docentes y sedes están conectados con la convocatoria.</a:t>
            </a:r>
          </a:p>
        </p:txBody>
      </p:sp>
    </p:spTree>
    <p:extLst>
      <p:ext uri="{BB962C8B-B14F-4D97-AF65-F5344CB8AC3E}">
        <p14:creationId xmlns:p14="http://schemas.microsoft.com/office/powerpoint/2010/main" val="6377063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6323B4-734D-4372-90DB-93C41824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E9A4B-28ED-4A75-B64C-B7E3C0AE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3AE485-BE68-4026-80C2-32091DED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Dirección ve la actividad de CEP sin pedir informes manuales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345B38-8A6A-4206-9CF0-DCF24F23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Cursos activos, alumnos, leads, campañas, próximas convocatorias y alertas se leen desde un panel operativo.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EBDFF-3563-4F9C-97D5-7E2801FB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9367E-C25C-48EC-8A7F-19EC34DC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212c3c005472c"/>
          <a:srcRect xmlns:a="http://schemas.openxmlformats.org/drawingml/2006/main" l="0" t="25195" r="0" b="25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2552700"/>
            <a:ext cx="7239000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14155-7ADE-4452-9A12-A93C9474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723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000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86BA2-3A7F-412C-A46F-A41D12A4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35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4A1D7-0E97-464A-ADFB-E6B4D9CD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161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Dirección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6A27E5-8AAB-4665-A385-D3BDA194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524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Cursos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Leads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Campañas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Convocatorias</a:t>
            </a:r>
          </a:p>
        </p:txBody>
      </p:sp>
    </p:spTree>
    <p:extLst>
      <p:ext uri="{BB962C8B-B14F-4D97-AF65-F5344CB8AC3E}">
        <p14:creationId xmlns:p14="http://schemas.microsoft.com/office/powerpoint/2010/main" val="12458144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CE1C82-05BC-4A2F-AF46-BCD60612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6011D1-4EE2-46BE-B8F4-2663CB5C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IMAGEN CEP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39DED-EBA4-4026-AB15-3DDF5D16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La plataforma debe sentirse como CEP, no como una herramienta genérica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8BB428-7729-48D0-AF0B-6B59D150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El contenido, los cursos, las capturas, los colores y el lenguaje se orientan a la identidad de la academia.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6AF6D-22DC-4ED1-80F8-64F2A281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DF156F-C82D-4352-B32E-1D664038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274f590aad4fe8"/>
          <a:srcRect xmlns:a="http://schemas.openxmlformats.org/drawingml/2006/main" l="19052" t="0" r="190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952500"/>
            <a:ext cx="3905250" cy="43815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975DD-DAE2-4FB1-B7D9-F9A882A0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52500"/>
            <a:ext cx="39052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F000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11A07-26A1-4641-BC64-948A3DE1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57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940EA-2292-4895-A845-D83DADA7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9085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Marca CEP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A8182-FA7F-402A-B6FE-784CE545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FDDDD-285F-4DAD-BB82-7C76642E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Cursos reales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0B094-102D-406A-8C10-6D713095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1050D-F025-41D3-97D4-D680072F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955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Lenguaje del centro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ADCD72-B299-49C5-8070-0FE3D802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00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D6BA9D-BC50-4858-BC74-8BAD6635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Capturas demostrables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E9C51-FC27-430D-A4A3-66EC0B88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4953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La presentación al cliente debe enseñar CEP, no una plataforma abstracta.</a:t>
            </a:r>
          </a:p>
        </p:txBody>
      </p:sp>
    </p:spTree>
    <p:extLst>
      <p:ext uri="{BB962C8B-B14F-4D97-AF65-F5344CB8AC3E}">
        <p14:creationId xmlns:p14="http://schemas.microsoft.com/office/powerpoint/2010/main" val="2039687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83CBDB-ECB7-4DF8-BE55-01FC57B9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A4A19-EA0F-4FED-9452-9B1FE83C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ACCESOS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77FA9-290B-439D-A431-4BE9AA42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Cada perfil entra por el acceso que necesita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5A4795-73D7-498F-975B-15E8AFE8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CEP puede separar web pública, panel de gestión, campus del alumno y administración técnica sin mezclar usos.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35F0A9-B82B-4FA4-A5FE-76026B64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95CAE7-B857-4BFC-BED2-F5FCF291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A372-CA0E-4B49-825B-F50F8F3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527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E3396B-C86B-4018-B9B7-A439770F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Web CEP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6F0B8-B458-404B-BC41-5690A166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1623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Oferta y formularios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D0D4C-73DE-4FB4-89F2-649C864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527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A29D5-C3B6-4EA0-B1D6-65F0EC15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432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ADC03B-4344-4BED-AFFF-C2FE3B7A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623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Gestión diaria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027F1-8F0B-4DDC-8A45-ABE04E48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100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EAC5E3-B4CF-4C5C-95F9-4CBB14F4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005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Campus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248F40-E3E5-4222-B0DC-5BB036F1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196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Alumnos y certificados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D0E93D-A7DB-434B-A5BF-41D3BCEE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0050"/>
            <a:ext cx="4095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11026-DF87-4823-9435-48BF60CB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1619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99AD60-C2BA-4E04-ACD6-0225493D6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1619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Contenido y configuración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EA73D1-4D18-4592-BB07-B3173059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810250"/>
            <a:ext cx="8858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Nota: el dominio propio se presenta como fase de implantación hasta confirmar DNS y despliegue final.</a:t>
            </a:r>
          </a:p>
        </p:txBody>
      </p:sp>
    </p:spTree>
    <p:extLst>
      <p:ext uri="{BB962C8B-B14F-4D97-AF65-F5344CB8AC3E}">
        <p14:creationId xmlns:p14="http://schemas.microsoft.com/office/powerpoint/2010/main" val="11964339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7EF4E-F229-4DE6-A4CB-6DD5D9A3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569B1-AA53-4985-AC31-D62E5F22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IMPLANTACION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50959-60DE-435B-8D78-7714F22F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El lanzamiento se puede ejecutar por fases controladas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F8C2D-4D0F-40C9-8791-CD469D17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Primero se valida contenido y pantallas, después campañas y leads, y finalmente campus, dominios y formación del equipo.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B6D00-944C-4CBE-8CD3-7BDC7E19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86A8C-1BA8-4A74-9650-CCB801BA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B7B13-8B77-4DB4-90C9-558F9313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40E47-73FC-4EBD-8CD2-CC652DC5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Fase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13B3A-3FE5-4703-83A0-8AD11F0A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52850"/>
            <a:ext cx="1200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Validar contenidos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37E85-4F1C-48D2-B218-6DEC6912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90950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E79D5-3D6A-446D-9C87-5FF50F9B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2194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61E9F-9504-463C-B09C-E092978D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909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Fase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82344-0496-43F6-A08A-5CFF61E6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52850"/>
            <a:ext cx="1200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Capturas finales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B0C7E-6CB0-44A9-B049-1A3A0777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1168D-7EE3-486D-8F3E-877622BD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194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F4"/>
          </a:solidFill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73E2E-3D96-47BA-9A13-35F8256D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909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Fase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C6D0B4-BDEB-46C5-ABE1-F7A5AA5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752850"/>
            <a:ext cx="1200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Campañas y leads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D258A-384B-469C-8A51-43A0CD36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90950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373A94-EF92-4BBE-877E-803E458E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194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3115C-DE2F-4085-AFD7-48A421A9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909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Fase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31085C-DE8B-4CDD-A356-98B4073B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52850"/>
            <a:ext cx="1200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Campus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B5D946-4E22-444F-9020-747E6C068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90950"/>
            <a:ext cx="5143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A9E3C-D262-4768-9564-8B69BAD0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1945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0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19AA7E-D53F-48E3-9B6F-1B6C349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90900"/>
            <a:ext cx="1143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Fase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669FF-DB17-41D6-BBE6-524CCAC6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52850"/>
            <a:ext cx="1200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Dominios y salida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14CEE9-3F61-45D7-ABAF-1B3A7F13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9334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La fase crítica para CEP es validar el flujo completo: convocatoria publicada, publicidad generada y leads gestionados.</a:t>
            </a:r>
          </a:p>
        </p:txBody>
      </p:sp>
    </p:spTree>
    <p:extLst>
      <p:ext uri="{BB962C8B-B14F-4D97-AF65-F5344CB8AC3E}">
        <p14:creationId xmlns:p14="http://schemas.microsoft.com/office/powerpoint/2010/main" val="312523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CA2D7-32D0-4D7C-9163-A060188A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8059E-F010-407E-A8A8-CA63C845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238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0004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0004F"/>
                </a:solidFill>
                <a:latin typeface="Arial"/>
                <a:ea typeface="Arial"/>
                <a:cs typeface="Arial"/>
              </a:rPr>
              <a:t>PROXIMOS PASOS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5568C-D8A3-4994-A8AE-09E88CC9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59055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La demo debe cerrar decisiones, no abrir dudas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7CAD3-3E84-4413-9F00-FDA2D7D7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0303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03030"/>
                </a:solidFill>
                <a:latin typeface="Arial"/>
                <a:ea typeface="Arial"/>
                <a:cs typeface="Arial"/>
              </a:rPr>
              <a:t>Para presentar a CEP conviene enseñar pantallas reales, confirmar dominios y acordar el flujo de publicidad automática desde convocatorias.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E96264-498D-4175-ACE4-8C9772CE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3429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CEP Formación · Akademate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D75D2-EA8E-49D9-8288-86504838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579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F676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F676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27392-5606-4A02-92D0-0B46250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6127A-2993-4196-BD48-5A696355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875C0-386A-4855-801E-2D1EC6D8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003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Validar oferta formativa prioritaria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CDEE6-903F-43B4-830C-7E936E664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0E5B9-E34C-483A-A4C1-1533EA9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F98627-3CE2-4A5E-8A84-8A4C8912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39090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Preparar demo con datos CEP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1D04A6-45A1-431A-BDE1-8C68FA1B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81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0D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FE6624-6EB6-42D3-9A64-FC597062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C61D5-3CA5-4EA8-AFB2-EA7CC045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814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Confirmar dominio y accesos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F0841-3265-4C68-B8D7-3152286E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004F"/>
          </a:solidFill>
          <a:ln xmlns:a="http://schemas.openxmlformats.org/drawingml/2006/main" w="19050">
            <a:solidFill>
              <a:srgbClr val="F0004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68D71-7E4F-438C-B1B5-B5143A25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63D4E-5C3E-4B46-8805-723903D1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57200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A003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9A0035"/>
                </a:solidFill>
                <a:latin typeface="Arial"/>
                <a:ea typeface="Arial"/>
                <a:cs typeface="Arial"/>
              </a:rPr>
              <a:t>Aprobar flujo convocatoria → publicidad → leads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399EB-C1B5-483C-905C-9488CFCA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62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7E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E7786D-C299-46E0-AB67-8ACDEE7A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81600"/>
            <a:ext cx="323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9AA9AE-80A2-4F2F-99C5-F662051E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62550"/>
            <a:ext cx="8191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Planificar formación del equipo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A045B8-F4DC-41EE-8C4C-A7996A20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90600"/>
            <a:ext cx="2381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0035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11EDFF-7E80-47B3-9D8E-2A26F7B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162050"/>
            <a:ext cx="1962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Decisión central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Flujo publicidad + leads</a:t>
            </a:r>
          </a:p>
        </p:txBody>
      </p:sp>
    </p:spTree>
    <p:extLst>
      <p:ext uri="{BB962C8B-B14F-4D97-AF65-F5344CB8AC3E}">
        <p14:creationId xmlns:p14="http://schemas.microsoft.com/office/powerpoint/2010/main" val="1405225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2026-06-04T07:58:11.3700000Z</dcterms:created>
  <dcterms:modified xsi:type="dcterms:W3CDTF">2026-06-04T07:58:11.3700000Z</dcterms:modified>
</coreProperties>
</file>